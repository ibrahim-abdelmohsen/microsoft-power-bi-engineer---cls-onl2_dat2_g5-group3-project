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erriweather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4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91" y="2745938"/>
            <a:ext cx="4869299" cy="273772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198" y="2368748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 Sales Data Analysis Project</a:t>
            </a:r>
            <a:endParaRPr lang="en-US" sz="4850" dirty="0"/>
          </a:p>
        </p:txBody>
      </p:sp>
      <p:sp>
        <p:nvSpPr>
          <p:cNvPr id="5" name="Text 1"/>
          <p:cNvSpPr/>
          <p:nvPr/>
        </p:nvSpPr>
        <p:spPr>
          <a:xfrm>
            <a:off x="6350198" y="4281488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comprehensive analysis of store sales data using Power BI, developed as part of the Digital Egypt Pioneers Initiative under the Ministry of Communications and Information Technology.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08896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550806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70" y="5554325"/>
            <a:ext cx="370165" cy="462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923" y="550806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Team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665923" y="6041588"/>
            <a:ext cx="3334226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CLS-PBI Data Analysis-G3 led by Enas Mokhtar Sayed Omar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246965" y="550806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536" y="5554325"/>
            <a:ext cx="370165" cy="462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9089" y="550806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Used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049089" y="6041588"/>
            <a:ext cx="3334226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Excel and Power BI for comprehensive data analysis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9630132" y="550806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703" y="5554325"/>
            <a:ext cx="370165" cy="4627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32256" y="550806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0432256" y="6041588"/>
            <a:ext cx="3334226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 Sales Dataset Analysis with visualization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91" y="2482572"/>
            <a:ext cx="4940618" cy="3264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35316" y="1006673"/>
            <a:ext cx="7378779" cy="6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Model &amp; Preprocessing</a:t>
            </a:r>
            <a:endParaRPr lang="en-US" sz="4250" dirty="0"/>
          </a:p>
        </p:txBody>
      </p:sp>
      <p:sp>
        <p:nvSpPr>
          <p:cNvPr id="5" name="Shape 1"/>
          <p:cNvSpPr/>
          <p:nvPr/>
        </p:nvSpPr>
        <p:spPr>
          <a:xfrm>
            <a:off x="6335316" y="2016323"/>
            <a:ext cx="163711" cy="821412"/>
          </a:xfrm>
          <a:prstGeom prst="roundRect">
            <a:avLst>
              <a:gd name="adj" fmla="val 560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6826448" y="2016323"/>
            <a:ext cx="272879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Import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826448" y="2488406"/>
            <a:ext cx="6955036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store sales CSV data into Power BI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662738" y="3055977"/>
            <a:ext cx="163711" cy="1170742"/>
          </a:xfrm>
          <a:prstGeom prst="roundRect">
            <a:avLst>
              <a:gd name="adj" fmla="val 560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153870" y="3055977"/>
            <a:ext cx="272879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153870" y="3528060"/>
            <a:ext cx="662761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Applied transformations: type changes, text formatting, and filtering empty values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990159" y="4444960"/>
            <a:ext cx="163711" cy="1170742"/>
          </a:xfrm>
          <a:prstGeom prst="roundRect">
            <a:avLst>
              <a:gd name="adj" fmla="val 560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481292" y="4444960"/>
            <a:ext cx="272879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Dimension Creation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481292" y="4917043"/>
            <a:ext cx="6300192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Created customer, product, and location dimensions for better organization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317700" y="5833943"/>
            <a:ext cx="163711" cy="1170742"/>
          </a:xfrm>
          <a:prstGeom prst="roundRect">
            <a:avLst>
              <a:gd name="adj" fmla="val 560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808833" y="5833943"/>
            <a:ext cx="272879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Modeling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808833" y="6306026"/>
            <a:ext cx="5972651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Built relationships between tables and created calendar table for date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728" y="2337554"/>
            <a:ext cx="4878824" cy="35554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0463" y="668179"/>
            <a:ext cx="7443073" cy="151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5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Sales Performance Analysis</a:t>
            </a:r>
            <a:endParaRPr lang="en-US" sz="4750" dirty="0"/>
          </a:p>
        </p:txBody>
      </p:sp>
      <p:sp>
        <p:nvSpPr>
          <p:cNvPr id="5" name="Text 1"/>
          <p:cNvSpPr/>
          <p:nvPr/>
        </p:nvSpPr>
        <p:spPr>
          <a:xfrm>
            <a:off x="850463" y="2672834"/>
            <a:ext cx="3539252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$2.25M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1101328" y="3778329"/>
            <a:ext cx="3037523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Sales</a:t>
            </a:r>
            <a:endParaRPr lang="en-US" sz="2350" dirty="0"/>
          </a:p>
        </p:txBody>
      </p:sp>
      <p:sp>
        <p:nvSpPr>
          <p:cNvPr id="7" name="Text 3"/>
          <p:cNvSpPr/>
          <p:nvPr/>
        </p:nvSpPr>
        <p:spPr>
          <a:xfrm>
            <a:off x="850463" y="4303633"/>
            <a:ext cx="3539252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Overall revenue generated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754166" y="2672834"/>
            <a:ext cx="3539371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20.76%</a:t>
            </a:r>
            <a:endParaRPr lang="en-US" sz="6300" dirty="0"/>
          </a:p>
        </p:txBody>
      </p:sp>
      <p:sp>
        <p:nvSpPr>
          <p:cNvPr id="9" name="Text 5"/>
          <p:cNvSpPr/>
          <p:nvPr/>
        </p:nvSpPr>
        <p:spPr>
          <a:xfrm>
            <a:off x="5005030" y="3778329"/>
            <a:ext cx="3037523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Growth Rate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4754166" y="4303633"/>
            <a:ext cx="3539371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Year-over-year sales increase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802255" y="5542836"/>
            <a:ext cx="3539371" cy="801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6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38%</a:t>
            </a:r>
            <a:endParaRPr lang="en-US" sz="6300" dirty="0"/>
          </a:p>
        </p:txBody>
      </p:sp>
      <p:sp>
        <p:nvSpPr>
          <p:cNvPr id="12" name="Text 8"/>
          <p:cNvSpPr/>
          <p:nvPr/>
        </p:nvSpPr>
        <p:spPr>
          <a:xfrm>
            <a:off x="3053120" y="6648331"/>
            <a:ext cx="3037523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Share</a:t>
            </a:r>
            <a:endParaRPr lang="en-US" sz="2350" dirty="0"/>
          </a:p>
        </p:txBody>
      </p:sp>
      <p:sp>
        <p:nvSpPr>
          <p:cNvPr id="13" name="Text 9"/>
          <p:cNvSpPr/>
          <p:nvPr/>
        </p:nvSpPr>
        <p:spPr>
          <a:xfrm>
            <a:off x="2802255" y="7173635"/>
            <a:ext cx="3539371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Largest category by sales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75924"/>
            <a:ext cx="9112925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 Category Performance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929765" y="381416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347686"/>
            <a:ext cx="415135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Highest sales category at 38%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890492"/>
            <a:ext cx="4151352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Phones are the top-selling subcategory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784" y="2940844"/>
            <a:ext cx="3612713" cy="36127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67920" y="4438650"/>
            <a:ext cx="616982" cy="616982"/>
          </a:xfrm>
          <a:prstGeom prst="roundRect">
            <a:avLst>
              <a:gd name="adj" fmla="val 148057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584" y="4573548"/>
            <a:ext cx="277654" cy="347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91662" y="301585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Office Supplies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9491662" y="3549372"/>
            <a:ext cx="427493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 highest at 33%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491662" y="4092178"/>
            <a:ext cx="427493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Storage items perform well</a:t>
            </a:r>
            <a:endParaRPr lang="en-US" sz="1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784" y="2940844"/>
            <a:ext cx="3612713" cy="361271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875865" y="2932986"/>
            <a:ext cx="616982" cy="616982"/>
          </a:xfrm>
          <a:prstGeom prst="roundRect">
            <a:avLst>
              <a:gd name="adj" fmla="val 148057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529" y="3067883"/>
            <a:ext cx="277654" cy="34706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91662" y="500729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Furniture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9491662" y="5540812"/>
            <a:ext cx="427493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29% of total sales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9491662" y="6083618"/>
            <a:ext cx="427493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Chairs lead this category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784" y="2940844"/>
            <a:ext cx="3612713" cy="3612713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875865" y="5944314"/>
            <a:ext cx="616982" cy="616982"/>
          </a:xfrm>
          <a:prstGeom prst="roundRect">
            <a:avLst>
              <a:gd name="adj" fmla="val 148057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529" y="6079212"/>
            <a:ext cx="277654" cy="347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87661"/>
            <a:ext cx="722495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Segmentation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02" y="2552581"/>
            <a:ext cx="2128957" cy="14219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728" y="3222784"/>
            <a:ext cx="347067" cy="4338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675" y="2799398"/>
            <a:ext cx="222611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Consumer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400675" y="3332917"/>
            <a:ext cx="222611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51.5% of total sales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533" y="3990142"/>
            <a:ext cx="8489394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483" y="4036219"/>
            <a:ext cx="4257913" cy="142196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847" y="4530209"/>
            <a:ext cx="347067" cy="43386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4283035"/>
            <a:ext cx="227337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Corporate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6465213" y="4816554"/>
            <a:ext cx="227337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30.3% of total sales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5473779"/>
            <a:ext cx="7424857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45" y="5519857"/>
            <a:ext cx="6386870" cy="142196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6013847"/>
            <a:ext cx="347067" cy="43386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766673"/>
            <a:ext cx="224778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Home Office</a:t>
            </a:r>
            <a:endParaRPr lang="en-US" sz="2400" dirty="0"/>
          </a:p>
        </p:txBody>
      </p:sp>
      <p:sp>
        <p:nvSpPr>
          <p:cNvPr id="16" name="Text 8"/>
          <p:cNvSpPr/>
          <p:nvPr/>
        </p:nvSpPr>
        <p:spPr>
          <a:xfrm>
            <a:off x="7529632" y="6300192"/>
            <a:ext cx="224778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18.2% of total sales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08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875246"/>
            <a:ext cx="5257800" cy="50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Regional Sales Distribution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863798" y="4617244"/>
            <a:ext cx="6371273" cy="1292423"/>
          </a:xfrm>
          <a:prstGeom prst="roundRect">
            <a:avLst>
              <a:gd name="adj" fmla="val 521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31796" y="4785241"/>
            <a:ext cx="2005489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West Region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31796" y="5132070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32.6% of total sales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31796" y="5484971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in Technology products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95448" y="4617244"/>
            <a:ext cx="6371273" cy="1292423"/>
          </a:xfrm>
          <a:prstGeom prst="roundRect">
            <a:avLst>
              <a:gd name="adj" fmla="val 521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63445" y="4785241"/>
            <a:ext cx="2005489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East Region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3445" y="5132070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28.7% of total sales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63445" y="5484971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Highest number of cities but not leading in sales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3798" y="6070044"/>
            <a:ext cx="6371273" cy="1292423"/>
          </a:xfrm>
          <a:prstGeom prst="roundRect">
            <a:avLst>
              <a:gd name="adj" fmla="val 521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31796" y="6238042"/>
            <a:ext cx="2005489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Central Region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31796" y="6584871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21.8% of total sales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31796" y="6937772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Balanced performance across categories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95448" y="6070044"/>
            <a:ext cx="6371273" cy="1292423"/>
          </a:xfrm>
          <a:prstGeom prst="roundRect">
            <a:avLst>
              <a:gd name="adj" fmla="val 521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63445" y="6238042"/>
            <a:ext cx="2005489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South Region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63445" y="6584871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16.9% of total sales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63445" y="6937772"/>
            <a:ext cx="60352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Potential growth opportunity area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16650"/>
            <a:ext cx="5822990" cy="6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Monthly Sales Trends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1955125"/>
            <a:ext cx="11612523" cy="4496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6702028"/>
            <a:ext cx="1290280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Peak sales occur in November-December, likely due to holiday shopping. Each month in 2018 outperformed the same month in 2017.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013" y="2144197"/>
            <a:ext cx="4900255" cy="39412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3798" y="758785"/>
            <a:ext cx="6206728" cy="73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Performing Cities</a:t>
            </a:r>
            <a:endParaRPr lang="en-US" sz="46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98" y="1843326"/>
            <a:ext cx="1172408" cy="140684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87918" y="2077760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New York</a:t>
            </a:r>
            <a:endParaRPr lang="en-US" sz="2300" dirty="0"/>
          </a:p>
        </p:txBody>
      </p:sp>
      <p:sp>
        <p:nvSpPr>
          <p:cNvPr id="7" name="Text 2"/>
          <p:cNvSpPr/>
          <p:nvPr/>
        </p:nvSpPr>
        <p:spPr>
          <a:xfrm>
            <a:off x="2387918" y="2584728"/>
            <a:ext cx="58922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Highest total sales across all regions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98" y="3250168"/>
            <a:ext cx="1172408" cy="140684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387918" y="3484602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Los Angeles</a:t>
            </a:r>
            <a:endParaRPr lang="en-US" sz="2300" dirty="0"/>
          </a:p>
        </p:txBody>
      </p:sp>
      <p:sp>
        <p:nvSpPr>
          <p:cNvPr id="10" name="Text 4"/>
          <p:cNvSpPr/>
          <p:nvPr/>
        </p:nvSpPr>
        <p:spPr>
          <a:xfrm>
            <a:off x="2387918" y="3991570"/>
            <a:ext cx="58922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technology product sales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798" y="4657011"/>
            <a:ext cx="1172408" cy="140684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387918" y="4891445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Seattle</a:t>
            </a:r>
            <a:endParaRPr lang="en-US" sz="2300" dirty="0"/>
          </a:p>
        </p:txBody>
      </p:sp>
      <p:sp>
        <p:nvSpPr>
          <p:cNvPr id="13" name="Text 6"/>
          <p:cNvSpPr/>
          <p:nvPr/>
        </p:nvSpPr>
        <p:spPr>
          <a:xfrm>
            <a:off x="2387918" y="5398413"/>
            <a:ext cx="58922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Consistent growth year-over-year</a:t>
            </a:r>
            <a:endParaRPr lang="en-US" sz="1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798" y="6063853"/>
            <a:ext cx="1172408" cy="140684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387918" y="6298287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Philadelphia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2387918" y="6805255"/>
            <a:ext cx="58922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Emerging market with rapid growth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069062"/>
            <a:ext cx="7416403" cy="115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Insights &amp; Recommendations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2503527"/>
            <a:ext cx="428744" cy="428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3798" y="3117294"/>
            <a:ext cx="228695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Growth Opportunity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63798" y="3517583"/>
            <a:ext cx="2286953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on expanding Home Office segment with targeted marketing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405" y="2503527"/>
            <a:ext cx="428744" cy="428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8405" y="3117294"/>
            <a:ext cx="22870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Seasonal Planning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3428405" y="3517583"/>
            <a:ext cx="2287072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Increase inventory and marketing for Q4 holiday shopping season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3130" y="2503527"/>
            <a:ext cx="428744" cy="428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93130" y="3117294"/>
            <a:ext cx="228695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Regional Focus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993130" y="3517583"/>
            <a:ext cx="2286953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 performance in East region cities to match their high count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798" y="4961573"/>
            <a:ext cx="428744" cy="428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3798" y="5575340"/>
            <a:ext cx="228695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 Strategy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863798" y="5975628"/>
            <a:ext cx="2286953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Prioritize technology products, especially phones, for maximum revenue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laser</cp:lastModifiedBy>
  <cp:revision>1</cp:revision>
  <dcterms:created xsi:type="dcterms:W3CDTF">2025-04-26T15:08:33Z</dcterms:created>
  <dcterms:modified xsi:type="dcterms:W3CDTF">2025-04-26T15:09:58Z</dcterms:modified>
</cp:coreProperties>
</file>